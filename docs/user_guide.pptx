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c60c829e-5736-46e1-ec2a-fafd11fb41c7}">
          <p14:sldIdLst>
            <p14:sldId id="256"/>
            <p14:sldId id="257"/>
          </p14:sldIdLst>
        </p14:section>
        <p14:section name="주요 기능" id="{6a6e92d4-c869-5d59-62a6-12a91e38f83c}">
          <p14:sldIdLst>
            <p14:sldId id="258"/>
            <p14:sldId id="259"/>
            <p14:sldId id="260"/>
            <p14:sldId id="261"/>
          </p14:sldIdLst>
        </p14:section>
        <p14:section name="화면 보는 법" id="{31f1c596-abad-16a9-92dd-86fa7647cbc1}">
          <p14:sldIdLst>
            <p14:sldId id="262"/>
            <p14:sldId id="263"/>
            <p14:sldId id="264"/>
          </p14:sldIdLst>
        </p14:section>
        <p14:section name="안내" id="{83ab451b-7e8d-6b20-e4e6-5bdcf0509285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자료는 담당자용 사용 안내입니다. 구현 방법은 다루지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캡처: 화면 맨 위 기간 선택 + 나라장터에서 불러오기 버튼 + 판단 갱신 버튼이 보이는 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캡처: 카드 하단 참가여부(검토중·참가·보류·불참) 버튼과 담당/대화 영역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캡처: 탭 줄과 오른쪽 검색창이 보이는 화면 상단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캡처: 참가 조건 칸이 다 보이는 공고 카드 1장. 가능하면 ①~④ 번호를 캡처 위에 표시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캡처: 주황 실적 요건 칩 팝업(기간·금액·원문·출처) 또는 자격 칩 팝업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9748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입찰 공고 탐색기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97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지일이 참가할 만한 나라장터 공고를 골라 한 장의 카드로 정리해 주는 사내 웹페이지 · 사용 안내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2026-10-02 기준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한눈에 보기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공고를 모으고, 고르고, 조건을 정리해 주면 참가 여부는 담당자가 정합니다.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51560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2494" y="1989734"/>
            <a:ext cx="409651" cy="4096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743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불러오기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31546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기간을 골라 나라장터 공고와 사전규격을 불러옵니다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286000" y="1965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154680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614" y="1989734"/>
            <a:ext cx="409651" cy="40965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60320" y="2743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자동 선별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606040" y="31546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관심·제외 키워드로 후보를 고르고 애매한 건 따로 모읍니다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389120" y="1965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5257800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734" y="1989734"/>
            <a:ext cx="409651" cy="40965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63440" y="2743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조건 정리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709160" y="31546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자격·지역·마감·과거 실적 유사도를 카드에 정리합니다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1965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7360920" y="18288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1854" y="1989734"/>
            <a:ext cx="409651" cy="40965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766560" y="2743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팀 판단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812280" y="31546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담당자가 참가여부를 남기고 팀이 함께 봅니다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공고 불러오기와 자동 선별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불러오기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기간: 최근 7일 · 30일 · 직접 지정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용역·물품·공사 경쟁입찰 + 사전규격 (수의계약 제외)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한 사람이 불러오는 중이면 모두에게 진행 상황이 보임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9748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자동 선별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관심 키워드(체험관·전시물·역사관·놀이터 등)가 있으면 후보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제외 키워드(유지보수·운송·설계공모 등)가 있으면 제외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둘 다 있으면 버리지 않고 "검토 필요"로 따로 모음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예산 미달·해외 개최 공고도 제외</a:t>
            </a:r>
            <a:endParaRPr lang="en-US" sz="1300" dirty="0"/>
          </a:p>
        </p:txBody>
      </p:sp>
      <p:sp>
        <p:nvSpPr>
          <p:cNvPr id="5" name="캡처 자리"/>
          <p:cNvSpPr/>
          <p:nvPr/>
        </p:nvSpPr>
        <p:spPr>
          <a:xfrm>
            <a:off x="4937760" y="1051560"/>
            <a:ext cx="374904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1112" y="2377440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120640" y="28346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캡처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상단 "나라장터에서 불러오기" 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(기간 선택 · 버튼 · 진행 상태)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참가 조건 자동 확인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공고문과 첨부파일(제안요청서 등)을 읽어 네 가지를 확인합니다.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20240" cy="23774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6916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098" y="183245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자격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880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요구하는 면허·업종을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지일이 가지고 있는지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42032" y="1463040"/>
            <a:ext cx="1920240" cy="23774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3182112" y="16916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930" y="183245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33472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지역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633472" y="2880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업체 소재지 제한과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지일(강원) 해당 여부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626864" y="1463040"/>
            <a:ext cx="1920240" cy="23774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5266944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762" y="1832458"/>
            <a:ext cx="358445" cy="35844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718304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공동수급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4718304" y="2880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공동수급 허용 여부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711696" y="1463040"/>
            <a:ext cx="1920240" cy="23774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0" name="Shape 15"/>
          <p:cNvSpPr/>
          <p:nvPr/>
        </p:nvSpPr>
        <p:spPr>
          <a:xfrm>
            <a:off x="7351776" y="16916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2594" y="1832458"/>
            <a:ext cx="358445" cy="35844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03136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확인 필요 요건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803136" y="2880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실적 · 현장설명회 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기술인력 · 건축사사무소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확인 필요 요건(주황)은 자동으로 판정하지 않습니다. 원문을 보고 직접 확인해 주세요.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마감 일정과 싱크로율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1217981"/>
            <a:ext cx="307238" cy="3072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143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마감 일정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8288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입찰참가자격등록 마감 기준으로 남은 날수(D-N)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공고 게시부터 개찰까지 일정 전체를 한 번에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공동수급협정 마감은 공동수급으로 참가할 때만 해당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846320" y="10972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021" y="121798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532120" y="1143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싱크로율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4846320" y="18288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공고의 과업 내용을 지일 과거 실적 150건과 비교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가장 비슷한 실적과 얼마나 닮았는지를 %로 표시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누르면 비슷한 과거 실적 목록이 나옴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356616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40080" y="363931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높음 65% 이상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비슷한 일을 해 본 적 있음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3337560" y="363931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4"/>
                </a:solidFill>
              </a:rPr>
              <a:t>경계선 45~65%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일부 과업만 비슷함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6035040" y="363931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3"/>
                </a:solidFill>
              </a:rPr>
              <a:t>낮음 45% 미만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해 본 일과 거리가 있음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팀 공유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카드마다 참가여부·담당자·대화를 남기면 팀 전체가 같이 봅니다.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EEF2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7830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785"/>
                </a:solidFill>
              </a:rPr>
              <a:t>검토중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63040" y="178308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E3F3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63040" y="17830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7A4A"/>
                </a:solidFill>
              </a:rPr>
              <a:t>참가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78308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BF0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68880" y="17830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7C0E"/>
                </a:solidFill>
              </a:rPr>
              <a:t>보류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78308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BE7E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17830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362B"/>
                </a:solidFill>
              </a:rPr>
              <a:t>불참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33172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"판단 갱신" 버튼: 다른 팀원이 남긴 최신 기록을 받아옴 (나라장터를 다시 부르지 않음)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각자 자기가 불러온 결과를 계속 보고, 기록은 모두 공유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참가/불참 기록은 키워드를 고치는 근거가 됩니다</a:t>
            </a:r>
            <a:endParaRPr lang="en-US" sz="1300" dirty="0"/>
          </a:p>
        </p:txBody>
      </p:sp>
      <p:sp>
        <p:nvSpPr>
          <p:cNvPr id="13" name="캡처 자리"/>
          <p:cNvSpPr/>
          <p:nvPr/>
        </p:nvSpPr>
        <p:spPr>
          <a:xfrm>
            <a:off x="4937760" y="914400"/>
            <a:ext cx="374904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1112" y="2240280"/>
            <a:ext cx="402336" cy="40233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120640" y="2697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캡처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카드 아래 참가여부 버튼 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담당 · 대화 부분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화면 구성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7548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5204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탭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실제 공고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선별을 통과한 후보. 매주 확인할 기본 목록 (마감된 공고는 맨 뒤)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└ 검토 필요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관심·제외 키워드가 함께 있는 공고. 실제 공고 탭 맨 아래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제외된 공고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걸러진 공고 전부. 사유별로 골라 보며 잘못 빠진 공고 찾기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직접 검색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불러온 공고 전체에서 공고명·수요기관·공고번호로 찾기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과거사업 목록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싱크로율 비교에 쓰는 지일 과거 실적 (연도별)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캡처 자리"/>
          <p:cNvSpPr/>
          <p:nvPr/>
        </p:nvSpPr>
        <p:spPr>
          <a:xfrm>
            <a:off x="5486400" y="1051560"/>
            <a:ext cx="3200400" cy="329184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2240280"/>
            <a:ext cx="402336" cy="40233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669280" y="2697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캡처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탭 줄 전체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(실제 공고 · 제외된 공고 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직접 검색 · 과거사업 목록)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카드 보는 법</a:t>
            </a:r>
            <a:endParaRPr lang="en-US" sz="2600" dirty="0"/>
          </a:p>
        </p:txBody>
      </p:sp>
      <p:sp>
        <p:nvSpPr>
          <p:cNvPr id="3" name="캡처 자리"/>
          <p:cNvSpPr/>
          <p:nvPr/>
        </p:nvSpPr>
        <p:spPr>
          <a:xfrm>
            <a:off x="457200" y="1005840"/>
            <a:ext cx="475488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3472" y="2331720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7889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캡처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공고 카드 한 장 전체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(번호 ①~④ 위치 표시 권장)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0" y="10058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0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①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89320" y="987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맨 위 줄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89320" y="13075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마감 D-N · 협상/입찰/사전규격 · 용역/물품/공사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0" y="1901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②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18836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마감 날짜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22037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점선 밑줄 날짜에 마우스 → 일정 전체 (★ = D-N 기준)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0" y="27980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③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989320" y="27797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참가 조건 칸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989320" y="309981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자격 | 지역·공동수급 | 확인 필요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0" y="369417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48640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④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989320" y="3675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싱크로율(%)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989320" y="39959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오른쪽 숫자. 누르면 비슷한 과거 실적 목록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칩 색깔과 팝업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E3F3E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7A4A"/>
                </a:solidFill>
              </a:rPr>
              <a:t>충족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10515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자격요건 충족 · 지역 충족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18488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FBE7E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1848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362B"/>
                </a:solidFill>
              </a:rPr>
              <a:t>미달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16184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자격요건 미달 · 지역 미달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85416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FBF0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18541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7C0E"/>
                </a:solidFill>
              </a:rPr>
              <a:t>확인 필요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218541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실적 요건 · 현장설명회 · 기술인력 · 건축사사무소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52344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EEF2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75234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785"/>
                </a:solidFill>
              </a:rPr>
              <a:t>정보 없음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27523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제한 없음 · 미확인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2900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모든 칩에 마우스를 올리면 설명이 나옵니다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자격: 필요한 면허 목록 (보유 ✓ / 미보유 ✗)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지역: 참가 가능 지역 · 지일 소재지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주황 칩: 핵심 내용 + 공고문 원문 + 출처 파일</a:t>
            </a:r>
            <a:endParaRPr lang="en-US" sz="1200" dirty="0"/>
          </a:p>
        </p:txBody>
      </p:sp>
      <p:sp>
        <p:nvSpPr>
          <p:cNvPr id="16" name="캡처 자리"/>
          <p:cNvSpPr/>
          <p:nvPr/>
        </p:nvSpPr>
        <p:spPr>
          <a:xfrm>
            <a:off x="5120640" y="1051560"/>
            <a:ext cx="35661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2377440"/>
            <a:ext cx="402336" cy="40233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303520" y="2834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캡처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칩 팝업 예시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(실적 요건 또는 자격 칩에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마우스를 올린 화면)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알아두실 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842" y="1162202"/>
            <a:ext cx="281635" cy="2816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미달이어도 목록에 남습니다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1371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공동수급으로 참가할 수 있어서 표시만 하고, 판단은 담당자께 맡깁니다.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19456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42" y="2305202"/>
            <a:ext cx="281635" cy="28163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2176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주황 칩은 직접 확인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097280" y="2514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실적·현장설명회 등은 자동 판정하지 않습니다. 원문을 확인해 주세요.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57200" y="3337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42" y="3448202"/>
            <a:ext cx="281635" cy="28163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3319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못 찾는 경우가 있습니다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1097280" y="3657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공고문 형식에 따라 요건·마감을 놓칠 수 있습니다. 사례를 알려주시면 고칩니다.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663440" y="1051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082" y="1162202"/>
            <a:ext cx="281635" cy="28163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30352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화면이 이상하면 F5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5303520" y="1371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그래도 같으면 "나라장터에서 불러오기"를 다시 해 주세요.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4663440" y="2194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4082" y="2305202"/>
            <a:ext cx="281635" cy="28163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303520" y="2176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참가여부를 꼭 남겨 주세요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5303520" y="2514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이 기록으로 키워드와 기준을 고칩니다.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앞으로 남은 과제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과제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실적 요건 자동 판정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지일 실적 목록(사업명·금액·준공일)을 받으면 "실적 충족/미달"까지 자동 표시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키워드 정리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참가/불참 기록이 쌓이면 집계해 손봄. 기념관·홍보관 추가, 전시부스를 부스로 넓힐지 결정 대기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싱크로율 기준 보정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65% / 45% 기준을 실제 참가 결과와 비교해 조정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자동 수집 · 텔레그램 보고서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기능을 다 다듬은 뒤 매일·매주 자동으로 불러와 텔레그램으로 보고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판정 정확도 점검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실제 공고와 대조하며 잘못 잡힌 칩·빠진 요건을 계속 고침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참가여부를 남겨 주세요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97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담당자 기록이 쌓일수록 키워드·싱크로율 기준이 지일에 맞게 다듬어집니다.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이상한 판정을 발견하면 공고번호와 함께 알려 주세요.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iil Bid Explorer">
  <a:themeElements>
    <a:clrScheme name="Jiil Bid Explorer">
      <a:dk1>
        <a:srgbClr val="1B2430"/>
      </a:dk1>
      <a:lt1>
        <a:srgbClr val="FFFFFF"/>
      </a:lt1>
      <a:dk2>
        <a:srgbClr val="16324A"/>
      </a:dk2>
      <a:lt2>
        <a:srgbClr val="EEF2F6"/>
      </a:lt2>
      <a:accent1>
        <a:srgbClr val="2C7DA0"/>
      </a:accent1>
      <a:accent2>
        <a:srgbClr val="1D7A4A"/>
      </a:accent2>
      <a:accent3>
        <a:srgbClr val="B3362B"/>
      </a:accent3>
      <a:accent4>
        <a:srgbClr val="C27C0E"/>
      </a:accent4>
      <a:accent5>
        <a:srgbClr val="6B7785"/>
      </a:accent5>
      <a:accent6>
        <a:srgbClr val="D9E6EF"/>
      </a:accent6>
      <a:hlink>
        <a:srgbClr val="2C7DA0"/>
      </a:hlink>
      <a:folHlink>
        <a:srgbClr val="6B7785"/>
      </a:folHlink>
    </a:clrScheme>
    <a:fontScheme name="Jiil Bid Explorer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입찰 공고 탐색기 사용 안내</dc:title>
  <dc:subject>PptxGenJS Presentation</dc:subject>
  <dc:creator>PptxGenJS</dc:creator>
  <cp:lastModifiedBy>PptxGenJS</cp:lastModifiedBy>
  <cp:revision>1</cp:revision>
  <dcterms:created xsi:type="dcterms:W3CDTF">2026-10-02T08:42:46Z</dcterms:created>
  <dcterms:modified xsi:type="dcterms:W3CDTF">2026-10-02T08:42:46Z</dcterms:modified>
</cp:coreProperties>
</file>